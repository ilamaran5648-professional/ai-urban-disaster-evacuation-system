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06" r:id="rId2"/>
    <p:sldId id="260" r:id="rId3"/>
    <p:sldId id="309" r:id="rId4"/>
    <p:sldId id="262" r:id="rId5"/>
    <p:sldId id="283" r:id="rId6"/>
    <p:sldId id="278" r:id="rId7"/>
    <p:sldId id="311" r:id="rId8"/>
    <p:sldId id="312" r:id="rId9"/>
    <p:sldId id="313" r:id="rId10"/>
    <p:sldId id="314" r:id="rId11"/>
    <p:sldId id="30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  <p15:guide id="3" pos="942" userDrawn="1">
          <p15:clr>
            <a:srgbClr val="A4A3A4"/>
          </p15:clr>
        </p15:guide>
        <p15:guide id="4" pos="7296" userDrawn="1">
          <p15:clr>
            <a:srgbClr val="A4A3A4"/>
          </p15:clr>
        </p15:guide>
        <p15:guide id="5" pos="566" userDrawn="1">
          <p15:clr>
            <a:srgbClr val="A4A3A4"/>
          </p15:clr>
        </p15:guide>
        <p15:guide id="6" pos="7080" userDrawn="1">
          <p15:clr>
            <a:srgbClr val="A4A3A4"/>
          </p15:clr>
        </p15:guide>
        <p15:guide id="7" orient="horz" pos="1013" userDrawn="1">
          <p15:clr>
            <a:srgbClr val="A4A3A4"/>
          </p15:clr>
        </p15:guide>
        <p15:guide id="8" orient="horz" pos="1488" userDrawn="1">
          <p15:clr>
            <a:srgbClr val="A4A3A4"/>
          </p15:clr>
        </p15:guide>
        <p15:guide id="9" pos="6701" userDrawn="1">
          <p15:clr>
            <a:srgbClr val="A4A3A4"/>
          </p15:clr>
        </p15:guide>
        <p15:guide id="10" orient="horz" pos="39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540" y="60"/>
      </p:cViewPr>
      <p:guideLst>
        <p:guide orient="horz" pos="2160"/>
        <p:guide pos="3839"/>
        <p:guide pos="942"/>
        <p:guide pos="7296"/>
        <p:guide pos="566"/>
        <p:guide pos="7080"/>
        <p:guide orient="horz" pos="1013"/>
        <p:guide orient="horz" pos="1488"/>
        <p:guide pos="6701"/>
        <p:guide orient="horz" pos="39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z="1200">
                <a:sym typeface="+mn-ea"/>
              </a:rPr>
              <a:t>Click to edit Master text style</a:t>
            </a:r>
            <a:endParaRPr lang="zh-CN" altLang="en-US" sz="1200"/>
          </a:p>
          <a:p>
            <a:pPr lvl="1"/>
            <a:r>
              <a:rPr lang="zh-CN" altLang="en-US" sz="1200">
                <a:sym typeface="+mn-ea"/>
              </a:rPr>
              <a:t>Second level</a:t>
            </a:r>
            <a:endParaRPr lang="zh-CN" altLang="en-US" sz="1200"/>
          </a:p>
          <a:p>
            <a:pPr lvl="2"/>
            <a:r>
              <a:rPr lang="zh-CN" altLang="en-US" sz="1200">
                <a:sym typeface="+mn-ea"/>
              </a:rPr>
              <a:t>Third level</a:t>
            </a:r>
            <a:endParaRPr lang="zh-CN" altLang="en-US" sz="1200"/>
          </a:p>
          <a:p>
            <a:pPr lvl="3"/>
            <a:r>
              <a:rPr lang="zh-CN" altLang="en-US" sz="1200">
                <a:sym typeface="+mn-ea"/>
              </a:rPr>
              <a:t>Fourth level</a:t>
            </a:r>
            <a:endParaRPr lang="zh-CN" altLang="en-US" sz="1200"/>
          </a:p>
          <a:p>
            <a:pPr lvl="4"/>
            <a:r>
              <a:rPr lang="zh-CN" altLang="en-US" sz="1200">
                <a:sym typeface="+mn-ea"/>
              </a:rPr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 measured test results or model metrics only after running and verifying the evaluation. Do not report synthetic-data performance as real flood-prediction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160963" y="1597025"/>
            <a:ext cx="5495925" cy="3668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tiv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1231900" y="2245926"/>
            <a:ext cx="2432050" cy="25130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000"/>
            </a:lvl1pPr>
          </a:lstStyle>
          <a:p>
            <a:endParaRPr lang="en-US"/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11"/>
          </p:nvPr>
        </p:nvSpPr>
        <p:spPr>
          <a:xfrm>
            <a:off x="3663823" y="2247242"/>
            <a:ext cx="2432050" cy="25130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000"/>
            </a:lvl1pPr>
          </a:lstStyle>
          <a:p>
            <a:endParaRPr lang="en-US"/>
          </a:p>
        </p:txBody>
      </p:sp>
      <p:sp>
        <p:nvSpPr>
          <p:cNvPr id="10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6095492" y="2245926"/>
            <a:ext cx="2432050" cy="25130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000"/>
            </a:lvl1pPr>
          </a:lstStyle>
          <a:p>
            <a:endParaRPr lang="en-US"/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13"/>
          </p:nvPr>
        </p:nvSpPr>
        <p:spPr>
          <a:xfrm>
            <a:off x="8527034" y="2245926"/>
            <a:ext cx="2432050" cy="25130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000"/>
            </a:lvl1pPr>
          </a:lstStyle>
          <a:p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8"/>
          <p:cNvSpPr>
            <a:spLocks noGrp="1"/>
          </p:cNvSpPr>
          <p:nvPr>
            <p:ph type="pic" sz="quarter" idx="10"/>
          </p:nvPr>
        </p:nvSpPr>
        <p:spPr>
          <a:xfrm>
            <a:off x="4132287" y="2247899"/>
            <a:ext cx="1856232" cy="185623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18"/>
          <p:cNvSpPr>
            <a:spLocks noGrp="1"/>
          </p:cNvSpPr>
          <p:nvPr>
            <p:ph type="pic" sz="quarter" idx="11"/>
          </p:nvPr>
        </p:nvSpPr>
        <p:spPr>
          <a:xfrm>
            <a:off x="6205464" y="2247899"/>
            <a:ext cx="1856232" cy="185623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4132287" y="4315968"/>
            <a:ext cx="1856232" cy="185623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3"/>
          </p:nvPr>
        </p:nvSpPr>
        <p:spPr>
          <a:xfrm>
            <a:off x="6205464" y="4315968"/>
            <a:ext cx="1856232" cy="185623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15875" y="2854112"/>
            <a:ext cx="2432050" cy="21859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2447830" y="2854112"/>
            <a:ext cx="2432050" cy="21859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4879785" y="2854112"/>
            <a:ext cx="2432050" cy="21859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311739" y="2854112"/>
            <a:ext cx="2432050" cy="21859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9743693" y="2854112"/>
            <a:ext cx="2432050" cy="21859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>
            <a:fillRect/>
          </a:stretch>
        </p:blipFill>
        <p:spPr/>
      </p:pic>
      <p:sp>
        <p:nvSpPr>
          <p:cNvPr id="2" name="Rectangle 1"/>
          <p:cNvSpPr/>
          <p:nvPr/>
        </p:nvSpPr>
        <p:spPr>
          <a:xfrm>
            <a:off x="31115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perspectiveFront"/>
              <a:lightRig rig="threePt" dir="t"/>
            </a:scene3d>
          </a:bodyPr>
          <a:lstStyle/>
          <a:p>
            <a:pPr algn="ctr"/>
            <a:endParaRPr lang="en-US"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13585" y="499848"/>
            <a:ext cx="841883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E.G.S. Pillay Engineering College</a:t>
            </a:r>
            <a:br>
              <a:rPr lang="en-IN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</a:b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An Autonomous Institution Affiliated to Anna University, Chennai | Approved by AICTE, New Delhi</a:t>
            </a:r>
            <a:b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</a:b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Accredited by NAAC with A++ Grade | Accredited by NBA T1 | NIRF Ranked Institute</a:t>
            </a:r>
            <a:b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Old Nagore Road,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Thethi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, Nagore Village,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Nagapattinam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 – 611002, Tamil Nadu, India</a:t>
            </a:r>
            <a:endParaRPr lang="en-GB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GB" altLang="en-US" sz="1200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56610" y="1871980"/>
            <a:ext cx="5478780" cy="981710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IN" altLang="en-GB" sz="3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ARTIW</a:t>
            </a:r>
            <a:r>
              <a:rPr lang="en-US" altLang="en-IN" sz="3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</a:t>
            </a:r>
            <a:r>
              <a:rPr lang="en-IN" altLang="en-GB" sz="3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IZ 2026</a:t>
            </a:r>
            <a:endParaRPr lang="en-IN" altLang="en-GB" sz="3200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altLang="en-GB" sz="32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617595" y="2411095"/>
            <a:ext cx="4755515" cy="83693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GB" sz="4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ARCOVA</a:t>
            </a:r>
            <a:endParaRPr lang="en-US" altLang="en-GB" sz="48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 sz="48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10360152" cy="8686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URBAN DISASTER RISK PREDICTION &amp; DYNAMIC EVACUATION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360152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D9D9D9"/>
                </a:solidFill>
                <a:latin typeface="Times New Roman"/>
              </a:rPr>
              <a:t>AI-Assisted Flood Risk Assessment and Dynamic Evacuation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663440"/>
            <a:ext cx="2011680" cy="1828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700" b="1" i="0" dirty="0">
                <a:solidFill>
                  <a:srgbClr val="FFFFFF"/>
                </a:solidFill>
                <a:latin typeface="Times New Roman"/>
              </a:rPr>
              <a:t>Team Name  :</a:t>
            </a:r>
          </a:p>
          <a:p>
            <a:pPr algn="l">
              <a:spcAft>
                <a:spcPts val="500"/>
              </a:spcAft>
            </a:pPr>
            <a:r>
              <a:rPr sz="1700" b="1" i="0" dirty="0">
                <a:solidFill>
                  <a:srgbClr val="FFFFFF"/>
                </a:solidFill>
                <a:latin typeface="Times New Roman"/>
              </a:rPr>
              <a:t>Members Name  :</a:t>
            </a:r>
          </a:p>
          <a:p>
            <a:pPr algn="l">
              <a:spcAft>
                <a:spcPts val="500"/>
              </a:spcAft>
            </a:pPr>
            <a:r>
              <a:rPr sz="1700" b="1" i="0" dirty="0">
                <a:solidFill>
                  <a:srgbClr val="FFFFFF"/>
                </a:solidFill>
                <a:latin typeface="Times New Roman"/>
              </a:rPr>
              <a:t>College Name  :</a:t>
            </a:r>
          </a:p>
          <a:p>
            <a:pPr algn="l">
              <a:spcAft>
                <a:spcPts val="500"/>
              </a:spcAft>
            </a:pPr>
            <a:r>
              <a:rPr sz="1700" b="1" i="0" dirty="0">
                <a:solidFill>
                  <a:srgbClr val="FFFFFF"/>
                </a:solidFill>
                <a:latin typeface="Times New Roman"/>
              </a:rPr>
              <a:t>Department  :</a:t>
            </a:r>
          </a:p>
          <a:p>
            <a:pPr algn="l">
              <a:spcAft>
                <a:spcPts val="500"/>
              </a:spcAft>
            </a:pPr>
            <a:r>
              <a:rPr sz="1700" b="1" i="0" dirty="0">
                <a:solidFill>
                  <a:srgbClr val="FFFFFF"/>
                </a:solidFill>
                <a:latin typeface="Times New Roman"/>
              </a:rPr>
              <a:t>Year 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39" y="4663439"/>
            <a:ext cx="7009015" cy="1894713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en-IN" sz="1700" dirty="0">
                <a:solidFill>
                  <a:srgbClr val="FEC306"/>
                </a:solidFill>
                <a:latin typeface="Times New Roman"/>
              </a:rPr>
              <a:t>Tech Spark</a:t>
            </a:r>
            <a:endParaRPr sz="1700" b="0" i="0" dirty="0">
              <a:solidFill>
                <a:srgbClr val="FEC306"/>
              </a:solidFill>
              <a:latin typeface="Times New Roman"/>
            </a:endParaRPr>
          </a:p>
          <a:p>
            <a:pPr>
              <a:spcAft>
                <a:spcPts val="500"/>
              </a:spcAft>
            </a:pPr>
            <a:r>
              <a:rPr lang="en-IN" sz="1700" dirty="0">
                <a:solidFill>
                  <a:srgbClr val="FEC306"/>
                </a:solidFill>
                <a:latin typeface="Times New Roman"/>
              </a:rPr>
              <a:t>SUMITHRAJ.S , ILAMARAN.R, RAJASREE.M</a:t>
            </a:r>
            <a:endParaRPr sz="1700" b="0" i="0" dirty="0">
              <a:solidFill>
                <a:srgbClr val="FEC306"/>
              </a:solidFill>
              <a:latin typeface="Times New Roman"/>
            </a:endParaRPr>
          </a:p>
          <a:p>
            <a:pPr>
              <a:spcAft>
                <a:spcPts val="500"/>
              </a:spcAft>
            </a:pPr>
            <a:r>
              <a:rPr lang="en-US" sz="1700" dirty="0" err="1">
                <a:solidFill>
                  <a:srgbClr val="FEC306"/>
                </a:solidFill>
                <a:latin typeface="Times New Roman"/>
              </a:rPr>
              <a:t>Perunthalaivar</a:t>
            </a:r>
            <a:r>
              <a:rPr lang="en-US" sz="1700" dirty="0">
                <a:solidFill>
                  <a:srgbClr val="FEC306"/>
                </a:solidFill>
                <a:latin typeface="Times New Roman"/>
              </a:rPr>
              <a:t> </a:t>
            </a:r>
            <a:r>
              <a:rPr lang="en-US" sz="1700" dirty="0" err="1">
                <a:solidFill>
                  <a:srgbClr val="FEC306"/>
                </a:solidFill>
                <a:latin typeface="Times New Roman"/>
              </a:rPr>
              <a:t>Kamarajar</a:t>
            </a:r>
            <a:r>
              <a:rPr lang="en-US" sz="1700" dirty="0">
                <a:solidFill>
                  <a:srgbClr val="FEC306"/>
                </a:solidFill>
                <a:latin typeface="Times New Roman"/>
              </a:rPr>
              <a:t> Institute of Engineering and Technology (PKIET)</a:t>
            </a:r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FEC306"/>
                </a:solidFill>
                <a:latin typeface="Times New Roman"/>
              </a:rPr>
              <a:t>Information Technology</a:t>
            </a:r>
            <a:endParaRPr sz="1700" b="0" i="0" dirty="0">
              <a:solidFill>
                <a:srgbClr val="FFFFFF"/>
              </a:solidFill>
              <a:latin typeface="Times New Roman"/>
            </a:endParaRPr>
          </a:p>
          <a:p>
            <a:pPr algn="l">
              <a:spcAft>
                <a:spcPts val="500"/>
              </a:spcAft>
            </a:pPr>
            <a:r>
              <a:rPr lang="en-IN" sz="1700" b="0" i="0" dirty="0">
                <a:solidFill>
                  <a:srgbClr val="FEC306"/>
                </a:solidFill>
                <a:latin typeface="Times New Roman"/>
              </a:rPr>
              <a:t>3</a:t>
            </a:r>
            <a:r>
              <a:rPr lang="en-IN" sz="1700" b="0" i="0" baseline="30000" dirty="0">
                <a:solidFill>
                  <a:srgbClr val="FEC306"/>
                </a:solidFill>
                <a:latin typeface="Times New Roman"/>
              </a:rPr>
              <a:t>rd</a:t>
            </a:r>
            <a:r>
              <a:rPr lang="en-IN" sz="1700" b="0" i="0" dirty="0">
                <a:solidFill>
                  <a:srgbClr val="FEC306"/>
                </a:solidFill>
                <a:latin typeface="Times New Roman"/>
              </a:rPr>
              <a:t> YEAR</a:t>
            </a:r>
            <a:endParaRPr sz="1700" b="0" i="0" dirty="0">
              <a:solidFill>
                <a:srgbClr val="FEC306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315701" y="598268"/>
            <a:ext cx="5411470" cy="601917"/>
            <a:chOff x="952500" y="669848"/>
            <a:chExt cx="5411470" cy="601917"/>
          </a:xfrm>
        </p:grpSpPr>
        <p:sp>
          <p:nvSpPr>
            <p:cNvPr id="2" name="TextBox 1"/>
            <p:cNvSpPr txBox="1"/>
            <p:nvPr/>
          </p:nvSpPr>
          <p:spPr>
            <a:xfrm>
              <a:off x="952500" y="669848"/>
              <a:ext cx="5411470" cy="5530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altLang="en-GB" sz="3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P</a:t>
              </a:r>
              <a:r>
                <a:rPr lang="en-US" altLang="en-IN" sz="3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ROBLEM</a:t>
              </a:r>
              <a:r>
                <a:rPr lang="en-IN" altLang="en-GB" sz="3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U</a:t>
              </a:r>
              <a:r>
                <a:rPr lang="en-US" altLang="en-IN" sz="3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NDERSTANDING:</a:t>
              </a:r>
              <a:endParaRPr lang="en-US" altLang="en-IN" sz="30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45535" y="1253477"/>
              <a:ext cx="549349" cy="182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5" name="图片占位符 3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99" r="20899"/>
          <a:stretch>
            <a:fillRect/>
          </a:stretch>
        </p:blipFill>
        <p:spPr>
          <a:xfrm>
            <a:off x="8425815" y="0"/>
            <a:ext cx="3765550" cy="6858635"/>
          </a:xfrm>
        </p:spPr>
      </p:pic>
      <p:sp>
        <p:nvSpPr>
          <p:cNvPr id="3" name="Text Box 2"/>
          <p:cNvSpPr txBox="1"/>
          <p:nvPr/>
        </p:nvSpPr>
        <p:spPr>
          <a:xfrm>
            <a:off x="0" y="6489700"/>
            <a:ext cx="12191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>
                <a:ln>
                  <a:solidFill>
                    <a:schemeClr val="bg2"/>
                  </a:solidFill>
                </a:ln>
              </a:rPr>
              <a:t>ARTIWHIZ 2026 Hackathon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758952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EC306"/>
                </a:solidFill>
                <a:latin typeface="Arial"/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7589520" cy="8686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D9D9D9"/>
                </a:solidFill>
                <a:latin typeface="Arial"/>
              </a:rPr>
              <a:t>Urban flooding can threaten lives, damage infrastructure, and make roads inaccessible. During heavy rainfall, emergency teams need to identify high-risk areas and plan suitable evacuation routes.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758952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EC306"/>
                </a:solidFill>
                <a:latin typeface="Arial"/>
              </a:rPr>
              <a:t>KEY CHALLENGES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10128"/>
            <a:ext cx="292608" cy="292608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10128"/>
            <a:ext cx="7132320" cy="2926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Identifying areas with high flood risk.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703320"/>
            <a:ext cx="292608" cy="292608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03320"/>
            <a:ext cx="7132320" cy="2926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Detecting unsafe and blocked roads.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096512"/>
            <a:ext cx="292608" cy="292608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96512"/>
            <a:ext cx="7132320" cy="2926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Finding safe shelters with available capacity.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489704"/>
            <a:ext cx="292608" cy="292608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489704"/>
            <a:ext cx="7132320" cy="2926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Identifying accessible hospitals during emergencies.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882896"/>
            <a:ext cx="292608" cy="292608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82896"/>
            <a:ext cx="7132320" cy="2926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Updating evacuation plans when conditions change.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94960"/>
            <a:ext cx="7589520" cy="9144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5875">
            <a:solidFill>
              <a:srgbClr val="FEC30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458968"/>
            <a:ext cx="7223760" cy="8229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EC306"/>
                </a:solidFill>
                <a:latin typeface="Arial"/>
              </a:rPr>
              <a:t>PROJECT OBJECTIVE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To develop an interactive system that estimates flood risk, evaluates road safety, and supports evacuation planning through risk-aware routing and shelter allocation.</a:t>
            </a: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315701" y="598268"/>
            <a:ext cx="4893945" cy="601917"/>
            <a:chOff x="952500" y="669848"/>
            <a:chExt cx="4893945" cy="601917"/>
          </a:xfrm>
        </p:grpSpPr>
        <p:sp>
          <p:nvSpPr>
            <p:cNvPr id="2" name="TextBox 1"/>
            <p:cNvSpPr txBox="1"/>
            <p:nvPr/>
          </p:nvSpPr>
          <p:spPr>
            <a:xfrm>
              <a:off x="952500" y="669848"/>
              <a:ext cx="4893945" cy="5530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en-GB" sz="30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+mn-ea"/>
                </a:rPr>
                <a:t>EXISTING SYSTEM &amp; GAP: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45535" y="1253477"/>
              <a:ext cx="549349" cy="182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4" name="图片占位符 3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99" r="20899"/>
          <a:stretch>
            <a:fillRect/>
          </a:stretch>
        </p:blipFill>
        <p:spPr>
          <a:xfrm>
            <a:off x="8377555" y="0"/>
            <a:ext cx="3814445" cy="6857365"/>
          </a:xfrm>
        </p:spPr>
      </p:pic>
      <p:sp>
        <p:nvSpPr>
          <p:cNvPr id="3" name="Text Box 2"/>
          <p:cNvSpPr txBox="1"/>
          <p:nvPr/>
        </p:nvSpPr>
        <p:spPr>
          <a:xfrm>
            <a:off x="111125" y="6489065"/>
            <a:ext cx="120808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GB">
                <a:ln>
                  <a:solidFill>
                    <a:schemeClr val="bg2"/>
                  </a:solidFill>
                </a:ln>
                <a:sym typeface="+mn-ea"/>
              </a:rPr>
              <a:t>ARTIWHIZ 2026 Hackathon </a:t>
            </a:r>
            <a:endParaRPr lang="en-US" altLang="en-GB">
              <a:ln>
                <a:solidFill>
                  <a:schemeClr val="bg2"/>
                </a:solidFill>
              </a:ln>
            </a:endParaRPr>
          </a:p>
          <a:p>
            <a:pPr algn="ctr"/>
            <a:endParaRPr lang="en-US" altLang="en-GB">
              <a:ln>
                <a:solidFill>
                  <a:schemeClr val="bg2"/>
                </a:solidFill>
              </a:ln>
              <a:sym typeface="+mn-ea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3703320" cy="31546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801368"/>
            <a:ext cx="333756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EC306"/>
                </a:solidFill>
                <a:latin typeface="Arial"/>
              </a:rPr>
              <a:t>EXISTING APPROACHES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48840"/>
            <a:ext cx="3337560" cy="2651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marL="182880" indent="-182880" algn="l">
              <a:spcAft>
                <a:spcPts val="700"/>
              </a:spcAft>
              <a:buClr>
                <a:srgbClr val="FEC306"/>
              </a:buClr>
              <a:buFont typeface="Arial"/>
              <a:buChar char="•"/>
            </a:pPr>
            <a:r>
              <a:rPr sz="1300" b="0" i="0">
                <a:solidFill>
                  <a:srgbClr val="FFFFFF"/>
                </a:solidFill>
                <a:latin typeface="Arial"/>
              </a:rPr>
              <a:t>Weather reports provide rainfall and weather information.</a:t>
            </a:r>
          </a:p>
          <a:p>
            <a:pPr marL="182880" indent="-182880" algn="l">
              <a:spcAft>
                <a:spcPts val="700"/>
              </a:spcAft>
              <a:buClr>
                <a:srgbClr val="FEC306"/>
              </a:buClr>
              <a:buFont typeface="Arial"/>
              <a:buChar char="•"/>
            </a:pPr>
            <a:r>
              <a:rPr sz="1300" b="0" i="0">
                <a:solidFill>
                  <a:srgbClr val="FFFFFF"/>
                </a:solidFill>
                <a:latin typeface="Arial"/>
              </a:rPr>
              <a:t>Digital maps display geographical locations and roads.</a:t>
            </a:r>
          </a:p>
          <a:p>
            <a:pPr marL="182880" indent="-182880" algn="l">
              <a:spcAft>
                <a:spcPts val="700"/>
              </a:spcAft>
              <a:buClr>
                <a:srgbClr val="FEC306"/>
              </a:buClr>
              <a:buFont typeface="Arial"/>
              <a:buChar char="•"/>
            </a:pPr>
            <a:r>
              <a:rPr sz="1300" b="0" i="0">
                <a:solidFill>
                  <a:srgbClr val="FFFFFF"/>
                </a:solidFill>
                <a:latin typeface="Arial"/>
              </a:rPr>
              <a:t>Emergency teams coordinate evacuations and shelter arrangements.</a:t>
            </a:r>
          </a:p>
          <a:p>
            <a:pPr marL="182880" indent="-182880" algn="l">
              <a:spcAft>
                <a:spcPts val="700"/>
              </a:spcAft>
              <a:buClr>
                <a:srgbClr val="FEC306"/>
              </a:buClr>
              <a:buFont typeface="Arial"/>
              <a:buChar char="•"/>
            </a:pPr>
            <a:r>
              <a:rPr sz="1300" b="0" i="0">
                <a:solidFill>
                  <a:srgbClr val="FFFFFF"/>
                </a:solidFill>
                <a:latin typeface="Arial"/>
              </a:rPr>
              <a:t>Separate tools may be used for risk assessment and route planning.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3703320" cy="31546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801368"/>
            <a:ext cx="333756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EC306"/>
                </a:solidFill>
                <a:latin typeface="Arial"/>
              </a:rPr>
              <a:t>IDENTIFIED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148840"/>
            <a:ext cx="3337560" cy="2651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marL="182880" indent="-182880" algn="l">
              <a:spcAft>
                <a:spcPts val="700"/>
              </a:spcAft>
              <a:buClr>
                <a:srgbClr val="FEC306"/>
              </a:buClr>
              <a:buFont typeface="Arial"/>
              <a:buChar char="•"/>
            </a:pPr>
            <a:r>
              <a:rPr sz="1300" b="0" i="0">
                <a:solidFill>
                  <a:srgbClr val="FFFFFF"/>
                </a:solidFill>
                <a:latin typeface="Arial"/>
              </a:rPr>
              <a:t>Risk assessment and evacuation planning may be separated across tools.</a:t>
            </a:r>
          </a:p>
          <a:p>
            <a:pPr marL="182880" indent="-182880" algn="l">
              <a:spcAft>
                <a:spcPts val="700"/>
              </a:spcAft>
              <a:buClr>
                <a:srgbClr val="FEC306"/>
              </a:buClr>
              <a:buFont typeface="Arial"/>
              <a:buChar char="•"/>
            </a:pPr>
            <a:r>
              <a:rPr sz="1300" b="0" i="0">
                <a:solidFill>
                  <a:srgbClr val="FFFFFF"/>
                </a:solidFill>
                <a:latin typeface="Arial"/>
              </a:rPr>
              <a:t>Road closures can make previously selected routes unsuitable.</a:t>
            </a:r>
          </a:p>
          <a:p>
            <a:pPr marL="182880" indent="-182880" algn="l">
              <a:spcAft>
                <a:spcPts val="700"/>
              </a:spcAft>
              <a:buClr>
                <a:srgbClr val="FEC306"/>
              </a:buClr>
              <a:buFont typeface="Arial"/>
              <a:buChar char="•"/>
            </a:pPr>
            <a:r>
              <a:rPr sz="1300" b="0" i="0">
                <a:solidFill>
                  <a:srgbClr val="FFFFFF"/>
                </a:solidFill>
                <a:latin typeface="Arial"/>
              </a:rPr>
              <a:t>Shelter safety and capacity must be considered together.</a:t>
            </a:r>
          </a:p>
          <a:p>
            <a:pPr marL="182880" indent="-182880" algn="l">
              <a:spcAft>
                <a:spcPts val="700"/>
              </a:spcAft>
              <a:buClr>
                <a:srgbClr val="FEC306"/>
              </a:buClr>
              <a:buFont typeface="Arial"/>
              <a:buChar char="•"/>
            </a:pPr>
            <a:r>
              <a:rPr sz="1300" b="0" i="0">
                <a:solidFill>
                  <a:srgbClr val="FFFFFF"/>
                </a:solidFill>
                <a:latin typeface="Arial"/>
              </a:rPr>
              <a:t>Emergency teams need a clear overview of risk zones and available facilities.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7589520" cy="128016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5875">
            <a:solidFill>
              <a:srgbClr val="FEC30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074920"/>
            <a:ext cx="7223760" cy="11887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EC306"/>
                </a:solidFill>
                <a:latin typeface="Arial"/>
              </a:rPr>
              <a:t>OUR APPROACH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Our prototype integrates machine learning-based risk scoring, road-network analysis, shelter allocation, and an interactive dashboard in one system.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952500" y="616683"/>
            <a:ext cx="4237355" cy="844976"/>
            <a:chOff x="952500" y="669848"/>
            <a:chExt cx="4237355" cy="844976"/>
          </a:xfrm>
        </p:grpSpPr>
        <p:sp>
          <p:nvSpPr>
            <p:cNvPr id="2" name="TextBox 1"/>
            <p:cNvSpPr txBox="1"/>
            <p:nvPr/>
          </p:nvSpPr>
          <p:spPr>
            <a:xfrm>
              <a:off x="952500" y="669848"/>
              <a:ext cx="4237355" cy="5530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en-IN" sz="3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PROPOSED </a:t>
              </a:r>
              <a:r>
                <a:rPr lang="en-IN" altLang="en-GB" sz="3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</a:t>
              </a:r>
              <a:r>
                <a:rPr lang="en-US" altLang="en-IN" sz="3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OLUTION:</a:t>
              </a:r>
              <a:endParaRPr lang="en-US" sz="3000">
                <a:solidFill>
                  <a:schemeClr val="accent5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952500" y="1239234"/>
              <a:ext cx="309880" cy="27559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sz="12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173805" y="1341107"/>
              <a:ext cx="549349" cy="182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2922270" y="64897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GB">
                <a:ln>
                  <a:solidFill>
                    <a:schemeClr val="bg2"/>
                  </a:solidFill>
                </a:ln>
                <a:sym typeface="+mn-ea"/>
              </a:rPr>
              <a:t>ARTIWHIZ 2026 Hackathon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1874519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88720" y="2103120"/>
            <a:ext cx="548640" cy="548640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075688"/>
            <a:ext cx="3931920" cy="6400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EC306"/>
                </a:solidFill>
                <a:latin typeface="Arial"/>
              </a:rPr>
              <a:t>FLOOD RISK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743200"/>
            <a:ext cx="3931920" cy="9144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9D9D9"/>
                </a:solidFill>
                <a:latin typeface="Arial"/>
              </a:rPr>
              <a:t>Uses rainfall, water level, elevation, and population to estimate a risk score for each zone.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1874519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583679" y="2103120"/>
            <a:ext cx="548640" cy="548640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41414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9" y="2075688"/>
            <a:ext cx="3931920" cy="6400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EC306"/>
                </a:solidFill>
                <a:latin typeface="Arial"/>
              </a:rPr>
              <a:t>ROAD SAFETY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2743200"/>
            <a:ext cx="3931920" cy="9144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9D9D9"/>
                </a:solidFill>
                <a:latin typeface="Arial"/>
              </a:rPr>
              <a:t>Identifies manually closed roads, roads marked blocked in the input data, and certain low-lying roads affected by high-risk zones.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77639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88720" y="4206240"/>
            <a:ext cx="548640" cy="548640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41414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178807"/>
            <a:ext cx="3931920" cy="6400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EC306"/>
                </a:solidFill>
                <a:latin typeface="Arial"/>
              </a:rPr>
              <a:t>DYNAMIC EVACUATION 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846320"/>
            <a:ext cx="3931920" cy="9144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9D9D9"/>
                </a:solidFill>
                <a:latin typeface="Arial"/>
              </a:rPr>
              <a:t>Uses Dijkstra's algorithm with risk-weighted route costs to find suitable paths to reachable, safe shelters.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3977639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83679" y="4206240"/>
            <a:ext cx="548640" cy="548640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41414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9" y="4178807"/>
            <a:ext cx="3931920" cy="6400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EC306"/>
                </a:solidFill>
                <a:latin typeface="Arial"/>
              </a:rPr>
              <a:t>SHELTER &amp; HOSPITAL ACCESSIBILITY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9" y="4846320"/>
            <a:ext cx="3931920" cy="9144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9D9D9"/>
                </a:solidFill>
                <a:latin typeface="Arial"/>
              </a:rPr>
              <a:t>Considers shelter safety and capacity, allocates evacuees where possible, and identifies the most accessible hospital in the road network.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549886" y="531593"/>
            <a:ext cx="5818505" cy="1014730"/>
            <a:chOff x="952500" y="669848"/>
            <a:chExt cx="5818505" cy="1014730"/>
          </a:xfrm>
        </p:grpSpPr>
        <p:sp>
          <p:nvSpPr>
            <p:cNvPr id="2" name="TextBox 1"/>
            <p:cNvSpPr txBox="1"/>
            <p:nvPr/>
          </p:nvSpPr>
          <p:spPr>
            <a:xfrm>
              <a:off x="952500" y="669848"/>
              <a:ext cx="5818505" cy="10147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en-GB" sz="3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DATASET &amp; DATA PROCESSING</a:t>
              </a:r>
              <a:r>
                <a:rPr lang="en-US" altLang="en-IN" sz="3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:</a:t>
              </a:r>
              <a:endParaRPr lang="en-US" altLang="en-IN" sz="3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en-IN" sz="30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952500" y="1239234"/>
              <a:ext cx="309880" cy="27559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sz="12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45535" y="1322057"/>
              <a:ext cx="549349" cy="182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7" name="图片占位符 3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99" r="20899"/>
          <a:stretch>
            <a:fillRect/>
          </a:stretch>
        </p:blipFill>
        <p:spPr>
          <a:xfrm>
            <a:off x="8537575" y="635"/>
            <a:ext cx="3654425" cy="6857365"/>
          </a:xfrm>
        </p:spPr>
      </p:pic>
      <p:sp>
        <p:nvSpPr>
          <p:cNvPr id="4" name="Text Box 3"/>
          <p:cNvSpPr txBox="1"/>
          <p:nvPr/>
        </p:nvSpPr>
        <p:spPr>
          <a:xfrm>
            <a:off x="3117215" y="64192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GB">
                <a:ln>
                  <a:solidFill>
                    <a:schemeClr val="bg2"/>
                  </a:solidFill>
                </a:ln>
                <a:sym typeface="+mn-ea"/>
              </a:rPr>
              <a:t>ARTIWHIZ 2026 Hackathon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783080" cy="960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1783080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EC306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178308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D9D9D9"/>
                </a:solidFill>
                <a:latin typeface="Arial"/>
              </a:rPr>
              <a:t>City zones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87168" y="1691640"/>
            <a:ext cx="1783080" cy="960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87168" y="1737360"/>
            <a:ext cx="1783080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EC306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286000"/>
            <a:ext cx="178308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D9D9D9"/>
                </a:solidFill>
                <a:latin typeface="Arial"/>
              </a:rPr>
              <a:t>Shelters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1691640"/>
            <a:ext cx="1783080" cy="960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25696" y="1737360"/>
            <a:ext cx="1783080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EC306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286000"/>
            <a:ext cx="178308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D9D9D9"/>
                </a:solidFill>
                <a:latin typeface="Arial"/>
              </a:rPr>
              <a:t>Hospitals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1691640"/>
            <a:ext cx="1783080" cy="960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4224" y="1737360"/>
            <a:ext cx="1783080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EC306"/>
                </a:solidFill>
                <a:latin typeface="Arial"/>
              </a:rPr>
              <a:t>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286000"/>
            <a:ext cx="178308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D9D9D9"/>
                </a:solidFill>
                <a:latin typeface="Arial"/>
              </a:rPr>
              <a:t>Road links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834640"/>
            <a:ext cx="758952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EC306"/>
                </a:solidFill>
                <a:latin typeface="Arial"/>
              </a:rPr>
              <a:t>INPUT FEATURES  (sample city data)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127248"/>
            <a:ext cx="178308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EC306"/>
            </a:solidFill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Rainfall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87168" y="3127248"/>
            <a:ext cx="178308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EC306"/>
            </a:solidFill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Water level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25696" y="3127248"/>
            <a:ext cx="178308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EC306"/>
            </a:solidFill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Elevation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64224" y="3127248"/>
            <a:ext cx="178308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EC306"/>
            </a:solidFill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Population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0"/>
            <a:ext cx="758952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EC306"/>
                </a:solidFill>
                <a:latin typeface="Arial"/>
              </a:rPr>
              <a:t>PROCESSING WORKFLOW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3968496"/>
            <a:ext cx="274320" cy="274320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950208"/>
            <a:ext cx="3383280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Load sample city data from city.json.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" y="4407408"/>
            <a:ext cx="274320" cy="274320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389120"/>
            <a:ext cx="3383280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Prepare the input features for the trained model.</a:t>
            </a:r>
          </a:p>
        </p:txBody>
      </p:sp>
      <p:sp>
        <p:nvSpPr>
          <p:cNvPr id="33" name="Oval 32"/>
          <p:cNvSpPr/>
          <p:nvPr/>
        </p:nvSpPr>
        <p:spPr>
          <a:xfrm>
            <a:off x="548640" y="4846320"/>
            <a:ext cx="274320" cy="274320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828032"/>
            <a:ext cx="3383280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Estimate a risk score for each zone.</a:t>
            </a:r>
          </a:p>
        </p:txBody>
      </p:sp>
      <p:sp>
        <p:nvSpPr>
          <p:cNvPr id="35" name="Oval 34"/>
          <p:cNvSpPr/>
          <p:nvPr/>
        </p:nvSpPr>
        <p:spPr>
          <a:xfrm>
            <a:off x="4389120" y="3968496"/>
            <a:ext cx="274320" cy="274320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3950208"/>
            <a:ext cx="3383280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Classify zones into Low, Medium, and High risk.</a:t>
            </a:r>
          </a:p>
        </p:txBody>
      </p:sp>
      <p:sp>
        <p:nvSpPr>
          <p:cNvPr id="37" name="Oval 36"/>
          <p:cNvSpPr/>
          <p:nvPr/>
        </p:nvSpPr>
        <p:spPr>
          <a:xfrm>
            <a:off x="4389120" y="4407408"/>
            <a:ext cx="274320" cy="274320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389120"/>
            <a:ext cx="3383280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Evaluate shelter safety and road conditions.</a:t>
            </a:r>
          </a:p>
        </p:txBody>
      </p:sp>
      <p:sp>
        <p:nvSpPr>
          <p:cNvPr id="39" name="Oval 38"/>
          <p:cNvSpPr/>
          <p:nvPr/>
        </p:nvSpPr>
        <p:spPr>
          <a:xfrm>
            <a:off x="4389120" y="4846320"/>
            <a:ext cx="274320" cy="274320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828032"/>
            <a:ext cx="3383280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Calculate evacuation routes and shelter allocations.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440680"/>
            <a:ext cx="7589520" cy="8686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5875">
            <a:solidFill>
              <a:srgbClr val="E5393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468112"/>
            <a:ext cx="7223760" cy="8229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53935"/>
                </a:solidFill>
                <a:latin typeface="Arial"/>
              </a:rPr>
              <a:t>Data limitation: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The model is trained on 6,000 synthetic samples. The prototype does not currently receive live weather, water-level, or traffic data.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952500" y="616683"/>
            <a:ext cx="4425950" cy="1014730"/>
            <a:chOff x="952500" y="669848"/>
            <a:chExt cx="4425950" cy="1014730"/>
          </a:xfrm>
        </p:grpSpPr>
        <p:sp>
          <p:nvSpPr>
            <p:cNvPr id="2" name="TextBox 1"/>
            <p:cNvSpPr txBox="1"/>
            <p:nvPr/>
          </p:nvSpPr>
          <p:spPr>
            <a:xfrm>
              <a:off x="952500" y="669848"/>
              <a:ext cx="4425950" cy="10147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en-GB" sz="3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ML/AI METHODOLOGY</a:t>
              </a:r>
              <a:r>
                <a:rPr lang="en-US" altLang="en-IN" sz="3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:</a:t>
              </a:r>
              <a:endParaRPr lang="en-US" altLang="en-IN" sz="3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en-IN" sz="30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952500" y="1239234"/>
              <a:ext cx="309880" cy="27559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sz="12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45535" y="1368412"/>
              <a:ext cx="549349" cy="182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6" name="图片占位符 3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99" r="20899"/>
          <a:stretch>
            <a:fillRect/>
          </a:stretch>
        </p:blipFill>
        <p:spPr>
          <a:xfrm>
            <a:off x="8537575" y="0"/>
            <a:ext cx="3654425" cy="6857365"/>
          </a:xfrm>
        </p:spPr>
      </p:pic>
      <p:sp>
        <p:nvSpPr>
          <p:cNvPr id="4" name="Text Box 3"/>
          <p:cNvSpPr txBox="1"/>
          <p:nvPr/>
        </p:nvSpPr>
        <p:spPr>
          <a:xfrm>
            <a:off x="3048000" y="64211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GB">
                <a:ln>
                  <a:solidFill>
                    <a:schemeClr val="bg2"/>
                  </a:solidFill>
                </a:ln>
                <a:sym typeface="+mn-ea"/>
              </a:rPr>
              <a:t>ARTIWHIZ 2026 Hackathon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3703320" cy="192024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13232" y="1828800"/>
            <a:ext cx="329184" cy="329184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828800"/>
            <a:ext cx="297180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EC306"/>
                </a:solidFill>
                <a:latin typeface="Arial"/>
              </a:rPr>
              <a:t>RANDOM FOREST REGRESSOR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3337560" cy="12801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D9D9D9"/>
                </a:solidFill>
                <a:latin typeface="Arial"/>
              </a:rPr>
              <a:t>Estimates a risk score between 0 and 1 using rainfall, water level, elevation, and population.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3703320" cy="192024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99431" y="1828800"/>
            <a:ext cx="329184" cy="329184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828800"/>
            <a:ext cx="297180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EC306"/>
                </a:solidFill>
                <a:latin typeface="Arial"/>
              </a:rPr>
              <a:t>RISK CLASSIFICATION</a:t>
            </a:r>
          </a:p>
        </p:txBody>
      </p:sp>
      <p:sp>
        <p:nvSpPr>
          <p:cNvPr id="18" name="Oval 17"/>
          <p:cNvSpPr/>
          <p:nvPr/>
        </p:nvSpPr>
        <p:spPr>
          <a:xfrm>
            <a:off x="4617720" y="2395727"/>
            <a:ext cx="201168" cy="20116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59" y="2331720"/>
            <a:ext cx="301752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Low Risk: </a:t>
            </a:r>
            <a:r>
              <a:rPr sz="1250" b="0" i="0">
                <a:solidFill>
                  <a:srgbClr val="D9D9D9"/>
                </a:solidFill>
                <a:latin typeface="Arial"/>
              </a:rPr>
              <a:t>Score below 0.35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2807208"/>
            <a:ext cx="201168" cy="201168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59" y="2743200"/>
            <a:ext cx="301752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Medium Risk: </a:t>
            </a:r>
            <a:r>
              <a:rPr sz="1250" b="0" i="0">
                <a:solidFill>
                  <a:srgbClr val="D9D9D9"/>
                </a:solidFill>
                <a:latin typeface="Arial"/>
              </a:rPr>
              <a:t>Score 0.35 to below 0.65</a:t>
            </a:r>
          </a:p>
        </p:txBody>
      </p:sp>
      <p:sp>
        <p:nvSpPr>
          <p:cNvPr id="22" name="Oval 21"/>
          <p:cNvSpPr/>
          <p:nvPr/>
        </p:nvSpPr>
        <p:spPr>
          <a:xfrm>
            <a:off x="4617720" y="3218687"/>
            <a:ext cx="201168" cy="201168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59" y="3154679"/>
            <a:ext cx="301752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High Risk: </a:t>
            </a:r>
            <a:r>
              <a:rPr sz="1250" b="0" i="0">
                <a:solidFill>
                  <a:srgbClr val="D9D9D9"/>
                </a:solidFill>
                <a:latin typeface="Arial"/>
              </a:rPr>
              <a:t>Score of 0.65 or above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49040"/>
            <a:ext cx="3703320" cy="192024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13232" y="3886200"/>
            <a:ext cx="329184" cy="329184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886200"/>
            <a:ext cx="297180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EC306"/>
                </a:solidFill>
                <a:latin typeface="Arial"/>
              </a:rPr>
              <a:t>DIJKSTRA'S ALGORITHM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43400"/>
            <a:ext cx="3337560" cy="12801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D9D9D9"/>
                </a:solidFill>
                <a:latin typeface="Arial"/>
              </a:rPr>
              <a:t>Finds suitable paths through the road network using route costs that consider distance and zone risk. Blocked roads are excluded from evacuation routing.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749040"/>
            <a:ext cx="3703320" cy="192024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99431" y="3886200"/>
            <a:ext cx="329184" cy="329184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886200"/>
            <a:ext cx="297180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EC306"/>
                </a:solidFill>
                <a:latin typeface="Arial"/>
              </a:rPr>
              <a:t>EVACUATION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343400"/>
            <a:ext cx="3337560" cy="12801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D9D9D9"/>
                </a:solidFill>
                <a:latin typeface="Arial"/>
              </a:rPr>
              <a:t>Uses risk categories to estimate evacuation demand, prioritizes higher-risk zones, and allocates people to reachable, safe shelters with available capacity.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760720"/>
            <a:ext cx="7589520" cy="6400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5875">
            <a:solidFill>
              <a:srgbClr val="FEC30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760720"/>
            <a:ext cx="7223760" cy="6400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EC306"/>
                </a:solidFill>
                <a:latin typeface="Arial"/>
              </a:rPr>
              <a:t>Technical note: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The model learns from synthetic labels generated using a predefined scoring rule with added noise. Predictions have not been validated against actual flood events.</a:t>
            </a:r>
          </a:p>
        </p:txBody>
      </p:sp>
    </p:spTree>
  </p:cSld>
  <p:clrMapOvr>
    <a:masterClrMapping/>
  </p:clrMapOvr>
  <p:transition spd="slow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315701" y="598268"/>
            <a:ext cx="4766310" cy="601917"/>
            <a:chOff x="952500" y="669848"/>
            <a:chExt cx="4766310" cy="601917"/>
          </a:xfrm>
        </p:grpSpPr>
        <p:sp>
          <p:nvSpPr>
            <p:cNvPr id="2" name="TextBox 1"/>
            <p:cNvSpPr txBox="1"/>
            <p:nvPr/>
          </p:nvSpPr>
          <p:spPr>
            <a:xfrm>
              <a:off x="952500" y="669848"/>
              <a:ext cx="4766310" cy="5530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en-GB" sz="3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SYSTEM ARCHITECTURE</a:t>
              </a:r>
              <a:r>
                <a:rPr lang="en-US" altLang="en-IN" sz="3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:</a:t>
              </a:r>
              <a:endParaRPr lang="en-US" altLang="en-IN" sz="30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45535" y="1253477"/>
              <a:ext cx="549349" cy="182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5" name="图片占位符 3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99" r="20899"/>
          <a:stretch>
            <a:fillRect/>
          </a:stretch>
        </p:blipFill>
        <p:spPr>
          <a:xfrm>
            <a:off x="8425815" y="0"/>
            <a:ext cx="3765550" cy="6858635"/>
          </a:xfrm>
        </p:spPr>
      </p:pic>
      <p:sp>
        <p:nvSpPr>
          <p:cNvPr id="3" name="Text Box 2"/>
          <p:cNvSpPr txBox="1"/>
          <p:nvPr/>
        </p:nvSpPr>
        <p:spPr>
          <a:xfrm>
            <a:off x="3299460" y="64897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GB">
                <a:ln>
                  <a:solidFill>
                    <a:schemeClr val="bg2"/>
                  </a:solidFill>
                </a:ln>
                <a:sym typeface="+mn-ea"/>
              </a:rPr>
              <a:t>ARTIWHIZ 2026 Hackathon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7589520" cy="713232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1600200"/>
            <a:ext cx="2240280" cy="713232"/>
          </a:xfrm>
          <a:prstGeom prst="roundRect">
            <a:avLst>
              <a:gd name="adj" fmla="val 6000"/>
            </a:avLst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INPUT DATA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41414"/>
                </a:solidFill>
                <a:latin typeface="Arial"/>
              </a:rPr>
              <a:t>city.json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600200"/>
            <a:ext cx="5029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Provides zone information, rainfall, water level, elevation, population, roads, shelters, and hospitals.</a:t>
            </a: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554480" y="2322576"/>
            <a:ext cx="228600" cy="137160"/>
          </a:xfrm>
          <a:prstGeom prst="triangle">
            <a:avLst/>
          </a:prstGeom>
          <a:solidFill>
            <a:srgbClr val="FEC3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2478024"/>
            <a:ext cx="7589520" cy="713232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" y="2478024"/>
            <a:ext cx="2240280" cy="713232"/>
          </a:xfrm>
          <a:prstGeom prst="roundRect">
            <a:avLst>
              <a:gd name="adj" fmla="val 6000"/>
            </a:avLst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MACHINE LEARNING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41414"/>
                </a:solidFill>
                <a:latin typeface="Arial"/>
              </a:rPr>
              <a:t>model.py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478024"/>
            <a:ext cx="5029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Trains a Random Forest Regressor on synthetic data and estimates zone risk scores.</a:t>
            </a:r>
          </a:p>
        </p:txBody>
      </p:sp>
      <p:sp>
        <p:nvSpPr>
          <p:cNvPr id="18" name="Isosceles Triangle 17"/>
          <p:cNvSpPr/>
          <p:nvPr/>
        </p:nvSpPr>
        <p:spPr>
          <a:xfrm rot="10800000">
            <a:off x="1554480" y="3200400"/>
            <a:ext cx="228600" cy="137160"/>
          </a:xfrm>
          <a:prstGeom prst="triangle">
            <a:avLst/>
          </a:prstGeom>
          <a:solidFill>
            <a:srgbClr val="FEC3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3355848"/>
            <a:ext cx="7589520" cy="713232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" y="3355848"/>
            <a:ext cx="2240280" cy="713232"/>
          </a:xfrm>
          <a:prstGeom prst="roundRect">
            <a:avLst>
              <a:gd name="adj" fmla="val 6000"/>
            </a:avLst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BACKEND PROCESSING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41414"/>
                </a:solidFill>
                <a:latin typeface="Arial"/>
              </a:rPr>
              <a:t>app.py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355848"/>
            <a:ext cx="5029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Calculates risk levels, evaluates road closures, checks shelter safety, plans evacuation routes, and allocates evacuees.</a:t>
            </a:r>
          </a:p>
        </p:txBody>
      </p:sp>
      <p:sp>
        <p:nvSpPr>
          <p:cNvPr id="22" name="Isosceles Triangle 21"/>
          <p:cNvSpPr/>
          <p:nvPr/>
        </p:nvSpPr>
        <p:spPr>
          <a:xfrm rot="10800000">
            <a:off x="1554480" y="4078224"/>
            <a:ext cx="228600" cy="137160"/>
          </a:xfrm>
          <a:prstGeom prst="triangle">
            <a:avLst/>
          </a:prstGeom>
          <a:solidFill>
            <a:srgbClr val="FEC3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48640" y="4233672"/>
            <a:ext cx="7589520" cy="713232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8640" y="4233672"/>
            <a:ext cx="2240280" cy="713232"/>
          </a:xfrm>
          <a:prstGeom prst="roundRect">
            <a:avLst>
              <a:gd name="adj" fmla="val 6000"/>
            </a:avLst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API COMMUNICATION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41414"/>
                </a:solidFill>
                <a:latin typeface="Arial"/>
              </a:rPr>
              <a:t>/api/state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233672"/>
            <a:ext cx="5029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Sends the current calculated system state to the dashboard.</a:t>
            </a:r>
          </a:p>
        </p:txBody>
      </p:sp>
      <p:sp>
        <p:nvSpPr>
          <p:cNvPr id="26" name="Isosceles Triangle 25"/>
          <p:cNvSpPr/>
          <p:nvPr/>
        </p:nvSpPr>
        <p:spPr>
          <a:xfrm rot="10800000">
            <a:off x="1554480" y="4956048"/>
            <a:ext cx="228600" cy="137160"/>
          </a:xfrm>
          <a:prstGeom prst="triangle">
            <a:avLst/>
          </a:prstGeom>
          <a:solidFill>
            <a:srgbClr val="FEC3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5111496"/>
            <a:ext cx="7589520" cy="713232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48640" y="5111496"/>
            <a:ext cx="2240280" cy="713232"/>
          </a:xfrm>
          <a:prstGeom prst="roundRect">
            <a:avLst>
              <a:gd name="adj" fmla="val 6000"/>
            </a:avLst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USER INTERFACE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41414"/>
                </a:solidFill>
                <a:latin typeface="Arial"/>
              </a:rPr>
              <a:t>index.html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11496"/>
            <a:ext cx="5029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Displays the interactive map, risk alerts, charts, routes, shelters, hospitals, and evacuation statistics.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035040"/>
            <a:ext cx="758952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EC306"/>
                </a:solidFill>
                <a:latin typeface="Arial"/>
              </a:rPr>
              <a:t>Supporting file: </a:t>
            </a:r>
            <a:r>
              <a:rPr sz="1200" b="0" i="0">
                <a:solidFill>
                  <a:srgbClr val="D9D9D9"/>
                </a:solidFill>
                <a:latin typeface="Arial"/>
              </a:rPr>
              <a:t>requirements.txt lists the Python libraries needed to run the application.</a:t>
            </a: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549886" y="531593"/>
            <a:ext cx="4776470" cy="844976"/>
            <a:chOff x="952500" y="669848"/>
            <a:chExt cx="4776470" cy="844976"/>
          </a:xfrm>
        </p:grpSpPr>
        <p:sp>
          <p:nvSpPr>
            <p:cNvPr id="2" name="TextBox 1"/>
            <p:cNvSpPr txBox="1"/>
            <p:nvPr/>
          </p:nvSpPr>
          <p:spPr>
            <a:xfrm>
              <a:off x="952500" y="669848"/>
              <a:ext cx="4776470" cy="5530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en-GB" sz="30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RESULTS &amp; EVALUATION: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952500" y="1239234"/>
              <a:ext cx="309880" cy="27559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sz="12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45535" y="1322057"/>
              <a:ext cx="549349" cy="182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7" name="图片占位符 3"/>
          <p:cNvPicPr>
            <a:picLocks noGrp="1" noChangeAspect="1"/>
          </p:cNvPicPr>
          <p:nvPr>
            <p:ph type="pic" sz="quarter" idx="10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99" r="20899"/>
          <a:stretch>
            <a:fillRect/>
          </a:stretch>
        </p:blipFill>
        <p:spPr>
          <a:xfrm>
            <a:off x="8537575" y="635"/>
            <a:ext cx="3654425" cy="6857365"/>
          </a:xfrm>
        </p:spPr>
      </p:pic>
      <p:sp>
        <p:nvSpPr>
          <p:cNvPr id="5" name="Text Box 4"/>
          <p:cNvSpPr txBox="1"/>
          <p:nvPr/>
        </p:nvSpPr>
        <p:spPr>
          <a:xfrm>
            <a:off x="3242310" y="643128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GB">
                <a:ln>
                  <a:solidFill>
                    <a:schemeClr val="bg2"/>
                  </a:solidFill>
                </a:ln>
                <a:sym typeface="+mn-ea"/>
              </a:rPr>
              <a:t>ARTIWHIZ 2026 Hackathon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3703320" cy="3246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801368"/>
            <a:ext cx="333756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EC306"/>
                </a:solidFill>
                <a:latin typeface="Arial"/>
              </a:rPr>
              <a:t>IMPLEMENTED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48840"/>
            <a:ext cx="3337560" cy="27432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marL="182880" indent="-182880" algn="l">
              <a:spcAft>
                <a:spcPts val="600"/>
              </a:spcAft>
              <a:buClr>
                <a:srgbClr val="FEC306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Arial"/>
              </a:rPr>
              <a:t>Risk scores and risk categories for city zones.</a:t>
            </a:r>
          </a:p>
          <a:p>
            <a:pPr marL="182880" indent="-182880" algn="l">
              <a:spcAft>
                <a:spcPts val="600"/>
              </a:spcAft>
              <a:buClr>
                <a:srgbClr val="FEC306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Arial"/>
              </a:rPr>
              <a:t>Configurable storm intensity and road-closure threshold.</a:t>
            </a:r>
          </a:p>
          <a:p>
            <a:pPr marL="182880" indent="-182880" algn="l">
              <a:spcAft>
                <a:spcPts val="600"/>
              </a:spcAft>
              <a:buClr>
                <a:srgbClr val="FEC306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Arial"/>
              </a:rPr>
              <a:t>Manual road closure and reopening.</a:t>
            </a:r>
          </a:p>
          <a:p>
            <a:pPr marL="182880" indent="-182880" algn="l">
              <a:spcAft>
                <a:spcPts val="600"/>
              </a:spcAft>
              <a:buClr>
                <a:srgbClr val="FEC306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Arial"/>
              </a:rPr>
              <a:t>Risk-aware evacuation route calculation.</a:t>
            </a:r>
          </a:p>
          <a:p>
            <a:pPr marL="182880" indent="-182880" algn="l">
              <a:spcAft>
                <a:spcPts val="600"/>
              </a:spcAft>
              <a:buClr>
                <a:srgbClr val="FEC306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Arial"/>
              </a:rPr>
              <a:t>Shelter safety and capacity-based allocation.</a:t>
            </a:r>
          </a:p>
          <a:p>
            <a:pPr marL="182880" indent="-182880" algn="l">
              <a:spcAft>
                <a:spcPts val="600"/>
              </a:spcAft>
              <a:buClr>
                <a:srgbClr val="FEC306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Arial"/>
              </a:rPr>
              <a:t>Hospital accessibility and evacuation statistics.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3703320" cy="3246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801368"/>
            <a:ext cx="333756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EC306"/>
                </a:solidFill>
                <a:latin typeface="Arial"/>
              </a:rPr>
              <a:t>EVALUATION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148840"/>
            <a:ext cx="3337560" cy="27432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marL="182880" indent="-182880" algn="l">
              <a:spcAft>
                <a:spcPts val="600"/>
              </a:spcAft>
              <a:buClr>
                <a:srgbClr val="FEC306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Arial"/>
              </a:rPr>
              <a:t>Assigned and unplaced evacuees are tracked.</a:t>
            </a:r>
          </a:p>
          <a:p>
            <a:pPr marL="182880" indent="-182880" algn="l">
              <a:spcAft>
                <a:spcPts val="600"/>
              </a:spcAft>
              <a:buClr>
                <a:srgbClr val="FEC306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Arial"/>
              </a:rPr>
              <a:t>Shelter capacity limits are considered.</a:t>
            </a:r>
          </a:p>
          <a:p>
            <a:pPr marL="182880" indent="-182880" algn="l">
              <a:spcAft>
                <a:spcPts val="600"/>
              </a:spcAft>
              <a:buClr>
                <a:srgbClr val="FEC306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Arial"/>
              </a:rPr>
              <a:t>Unsafe shelters are excluded from allocation.</a:t>
            </a:r>
          </a:p>
          <a:p>
            <a:pPr marL="182880" indent="-182880" algn="l">
              <a:spcAft>
                <a:spcPts val="600"/>
              </a:spcAft>
              <a:buClr>
                <a:srgbClr val="FEC306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Arial"/>
              </a:rPr>
              <a:t>Routes are recalculated when simulation inputs change.</a:t>
            </a:r>
          </a:p>
          <a:p>
            <a:pPr marL="182880" indent="-182880" algn="l">
              <a:spcAft>
                <a:spcPts val="600"/>
              </a:spcAft>
              <a:buClr>
                <a:srgbClr val="FEC306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Arial"/>
              </a:rPr>
              <a:t>Zones without reachable hospitals or safe shelters are identified.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66360"/>
            <a:ext cx="7589520" cy="11430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5875">
            <a:solidFill>
              <a:srgbClr val="FEC30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193792"/>
            <a:ext cx="7223760" cy="10972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EC306"/>
                </a:solidFill>
                <a:latin typeface="Arial"/>
              </a:rPr>
              <a:t>EVALUATION STATUS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The prototype demonstrates the intended risk-analysis and evacuation-planning workflow. Real-world predictive accuracy has not yet been established.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315701" y="598268"/>
            <a:ext cx="4140835" cy="601917"/>
            <a:chOff x="952500" y="669848"/>
            <a:chExt cx="4140835" cy="601917"/>
          </a:xfrm>
        </p:grpSpPr>
        <p:sp>
          <p:nvSpPr>
            <p:cNvPr id="2" name="TextBox 1"/>
            <p:cNvSpPr txBox="1"/>
            <p:nvPr/>
          </p:nvSpPr>
          <p:spPr>
            <a:xfrm>
              <a:off x="952500" y="669848"/>
              <a:ext cx="4140835" cy="5530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en-GB" sz="30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+mn-ea"/>
                </a:rPr>
                <a:t>DEMO / APPLICATION: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45535" y="1253477"/>
              <a:ext cx="549349" cy="182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5" name="图片占位符 3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99" r="20899"/>
          <a:stretch>
            <a:fillRect/>
          </a:stretch>
        </p:blipFill>
        <p:spPr>
          <a:xfrm>
            <a:off x="8425815" y="0"/>
            <a:ext cx="3765550" cy="6858635"/>
          </a:xfrm>
        </p:spPr>
      </p:pic>
      <p:sp>
        <p:nvSpPr>
          <p:cNvPr id="3" name="Text Box 2"/>
          <p:cNvSpPr txBox="1"/>
          <p:nvPr/>
        </p:nvSpPr>
        <p:spPr>
          <a:xfrm>
            <a:off x="3402330" y="64897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GB">
                <a:ln>
                  <a:solidFill>
                    <a:schemeClr val="bg2"/>
                  </a:solidFill>
                </a:ln>
                <a:sym typeface="+mn-ea"/>
              </a:rPr>
              <a:t>ARTIWHIZ 2026 Hackathon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758952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D9D9D9"/>
                </a:solidFill>
                <a:latin typeface="Arial"/>
              </a:rPr>
              <a:t>An interactive dashboard to simulate changing flood conditions and inspect the resulting evacuation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393192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EC306"/>
                </a:solidFill>
                <a:latin typeface="Arial"/>
              </a:rPr>
              <a:t>DEMONSTRATION STEPS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670048"/>
            <a:ext cx="274320" cy="274320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606040"/>
            <a:ext cx="356616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Open the dashboard and inspect the city risk map.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163824"/>
            <a:ext cx="274320" cy="274320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099816"/>
            <a:ext cx="356616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Increase the storm intensity and observe changes in risk scores.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657600"/>
            <a:ext cx="274320" cy="274320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593592"/>
            <a:ext cx="356616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Adjust the road-closure threshold.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151376"/>
            <a:ext cx="274320" cy="274320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087368"/>
            <a:ext cx="356616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Manually close a road and observe route recalculation.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645152"/>
            <a:ext cx="274320" cy="274320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581144"/>
            <a:ext cx="356616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Select a zone to inspect its risk level and evacuation route.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138928"/>
            <a:ext cx="274320" cy="274320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074920"/>
            <a:ext cx="356616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Review shelter safety, available capacity, and hospital accessibility.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760720"/>
            <a:ext cx="2468880" cy="59436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2468880" cy="5943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EC306"/>
                </a:solidFill>
                <a:latin typeface="Arial"/>
              </a:rPr>
              <a:t>Leaflet.js + OpenStreetMap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D9D9D9"/>
                </a:solidFill>
                <a:latin typeface="Arial"/>
              </a:rPr>
              <a:t>Map visualization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0" y="5760720"/>
            <a:ext cx="2468880" cy="59436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08960" y="5760720"/>
            <a:ext cx="2468880" cy="5943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EC306"/>
                </a:solidFill>
                <a:latin typeface="Arial"/>
              </a:rPr>
              <a:t>Chart.js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D9D9D9"/>
                </a:solidFill>
                <a:latin typeface="Arial"/>
              </a:rPr>
              <a:t>Risk and shelter charts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5760720"/>
            <a:ext cx="2468880" cy="59436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0" y="5760720"/>
            <a:ext cx="2468880" cy="5943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EC306"/>
                </a:solidFill>
                <a:latin typeface="Arial"/>
              </a:rPr>
              <a:t>Flask API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D9D9D9"/>
                </a:solidFill>
                <a:latin typeface="Arial"/>
              </a:rPr>
              <a:t>Backend–frontend link</a:t>
            </a: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952500" y="616683"/>
            <a:ext cx="4854575" cy="844976"/>
            <a:chOff x="952500" y="669848"/>
            <a:chExt cx="4854575" cy="844976"/>
          </a:xfrm>
        </p:grpSpPr>
        <p:sp>
          <p:nvSpPr>
            <p:cNvPr id="2" name="TextBox 1"/>
            <p:cNvSpPr txBox="1"/>
            <p:nvPr/>
          </p:nvSpPr>
          <p:spPr>
            <a:xfrm>
              <a:off x="952500" y="669848"/>
              <a:ext cx="4854575" cy="5530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en-GB" sz="30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IMPACT + FUTURE SCOPE: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952500" y="1239234"/>
              <a:ext cx="309880" cy="27559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sz="12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45535" y="1368412"/>
              <a:ext cx="549349" cy="182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6" name="图片占位符 3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99" r="20899"/>
          <a:stretch>
            <a:fillRect/>
          </a:stretch>
        </p:blipFill>
        <p:spPr>
          <a:xfrm>
            <a:off x="8537575" y="0"/>
            <a:ext cx="3654425" cy="6857365"/>
          </a:xfrm>
        </p:spPr>
      </p:pic>
      <p:sp>
        <p:nvSpPr>
          <p:cNvPr id="4" name="Text Box 3"/>
          <p:cNvSpPr txBox="1"/>
          <p:nvPr/>
        </p:nvSpPr>
        <p:spPr>
          <a:xfrm>
            <a:off x="3469005" y="64897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GB">
                <a:ln>
                  <a:solidFill>
                    <a:schemeClr val="bg2"/>
                  </a:solidFill>
                </a:ln>
                <a:sym typeface="+mn-ea"/>
              </a:rPr>
              <a:t>ARTIWHIZ 2026 Hackathon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2441448" cy="169164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5800" y="1828800"/>
            <a:ext cx="310896" cy="310896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801368"/>
            <a:ext cx="1801368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EC306"/>
                </a:solidFill>
                <a:latin typeface="Arial"/>
              </a:rPr>
              <a:t>EARLY RISK 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58568"/>
            <a:ext cx="2167128" cy="10972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D9D9D9"/>
                </a:solidFill>
                <a:latin typeface="Arial"/>
              </a:rPr>
              <a:t>Highlights zones with higher estimated flood risk for further assessment.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22676" y="1691640"/>
            <a:ext cx="2441448" cy="169164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259836" y="1828800"/>
            <a:ext cx="310896" cy="310896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1315" y="1801368"/>
            <a:ext cx="1801368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EC306"/>
                </a:solidFill>
                <a:latin typeface="Arial"/>
              </a:rPr>
              <a:t>ROUTE-AWARE EVACUATION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9836" y="2258568"/>
            <a:ext cx="2167128" cy="10972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D9D9D9"/>
                </a:solidFill>
                <a:latin typeface="Arial"/>
              </a:rPr>
              <a:t>Supports planning by considering road closures, distance, and road risk.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96712" y="1691640"/>
            <a:ext cx="2441448" cy="169164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33872" y="1828800"/>
            <a:ext cx="310896" cy="310896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1" y="1801368"/>
            <a:ext cx="1801368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EC306"/>
                </a:solidFill>
                <a:latin typeface="Arial"/>
              </a:rPr>
              <a:t>CAPACITY-AWARE SHELTERS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2258568"/>
            <a:ext cx="2167128" cy="10972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D9D9D9"/>
                </a:solidFill>
                <a:latin typeface="Arial"/>
              </a:rPr>
              <a:t>Tracks shelter capacity and identifies evacuees who cannot be assigned a place.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66160"/>
            <a:ext cx="7589520" cy="9144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5875">
            <a:solidFill>
              <a:srgbClr val="FEC30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5800" y="3749039"/>
            <a:ext cx="310896" cy="310896"/>
          </a:xfrm>
          <a:prstGeom prst="ellipse">
            <a:avLst/>
          </a:prstGeom>
          <a:solidFill>
            <a:srgbClr val="FEC306"/>
          </a:solidFill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611880"/>
            <a:ext cx="6812280" cy="8229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FEC306"/>
                </a:solidFill>
                <a:latin typeface="Arial"/>
              </a:rPr>
              <a:t>FUTURE ENHANCEMENTS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Integrate real-time rainfall and water-level sensors, historical flood records, live traffic information, and verified emergency-service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63440"/>
            <a:ext cx="3703320" cy="169164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333756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EC306"/>
                </a:solidFill>
                <a:latin typeface="Arial"/>
              </a:rPr>
              <a:t>EXPECTED IMPACT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D9D9D9"/>
                </a:solidFill>
                <a:latin typeface="Arial"/>
              </a:rPr>
              <a:t>The prototype demonstrates how machine learning, graph algorithms, and interactive visualization can support disaster-response planning.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4663440"/>
            <a:ext cx="3703320" cy="169164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4754880"/>
            <a:ext cx="333756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EC306"/>
                </a:solidFill>
                <a:latin typeface="Arial"/>
              </a:rPr>
              <a:t>FUTURE DEVELOPMENT</a:t>
            </a:r>
          </a:p>
          <a:p>
            <a:pPr marL="182880" indent="-182880" algn="l">
              <a:spcAft>
                <a:spcPts val="200"/>
              </a:spcAft>
              <a:buClr>
                <a:srgbClr val="FEC306"/>
              </a:buClr>
              <a:buFont typeface="Arial"/>
              <a:buChar char="•"/>
            </a:pPr>
            <a:r>
              <a:rPr sz="1100" b="0" i="0">
                <a:solidFill>
                  <a:srgbClr val="FFFFFF"/>
                </a:solidFill>
                <a:latin typeface="Arial"/>
              </a:rPr>
              <a:t>Train and validate the model using real historical flood data.</a:t>
            </a:r>
          </a:p>
          <a:p>
            <a:pPr marL="182880" indent="-182880" algn="l">
              <a:spcAft>
                <a:spcPts val="200"/>
              </a:spcAft>
              <a:buClr>
                <a:srgbClr val="FEC306"/>
              </a:buClr>
              <a:buFont typeface="Arial"/>
              <a:buChar char="•"/>
            </a:pPr>
            <a:r>
              <a:rPr sz="1100" b="0" i="0">
                <a:solidFill>
                  <a:srgbClr val="FFFFFF"/>
                </a:solidFill>
                <a:latin typeface="Arial"/>
              </a:rPr>
              <a:t>Integrate live weather and road-status feeds.</a:t>
            </a:r>
          </a:p>
          <a:p>
            <a:pPr marL="182880" indent="-182880" algn="l">
              <a:spcAft>
                <a:spcPts val="200"/>
              </a:spcAft>
              <a:buClr>
                <a:srgbClr val="FEC306"/>
              </a:buClr>
              <a:buFont typeface="Arial"/>
              <a:buChar char="•"/>
            </a:pPr>
            <a:r>
              <a:rPr sz="1100" b="0" i="0">
                <a:solidFill>
                  <a:srgbClr val="FFFFFF"/>
                </a:solidFill>
                <a:latin typeface="Arial"/>
              </a:rPr>
              <a:t>Improve road-network accuracy and travel-time estimates.</a:t>
            </a:r>
          </a:p>
          <a:p>
            <a:pPr marL="182880" indent="-182880" algn="l">
              <a:spcAft>
                <a:spcPts val="200"/>
              </a:spcAft>
              <a:buClr>
                <a:srgbClr val="FEC306"/>
              </a:buClr>
              <a:buFont typeface="Arial"/>
              <a:buChar char="•"/>
            </a:pPr>
            <a:r>
              <a:rPr sz="1100" b="0" i="0">
                <a:solidFill>
                  <a:srgbClr val="FFFFFF"/>
                </a:solidFill>
                <a:latin typeface="Arial"/>
              </a:rPr>
              <a:t>Conduct testing with disaster-management experts.</a:t>
            </a:r>
          </a:p>
        </p:txBody>
      </p:sp>
    </p:spTree>
  </p:cSld>
  <p:clrMapOvr>
    <a:masterClrMapping/>
  </p:clrMapOvr>
  <p:transition spd="slow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>
            <a:fillRect/>
          </a:stretch>
        </p:blipFill>
        <p:spPr/>
      </p:pic>
      <p:sp>
        <p:nvSpPr>
          <p:cNvPr id="2" name="Rectangle 1"/>
          <p:cNvSpPr/>
          <p:nvPr/>
        </p:nvSpPr>
        <p:spPr>
          <a:xfrm>
            <a:off x="-20323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60000"/>
                </a:schemeClr>
              </a:gs>
              <a:gs pos="100000">
                <a:schemeClr val="tx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10720" y="2628149"/>
            <a:ext cx="317055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5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747031" y="3419253"/>
            <a:ext cx="549349" cy="182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333750" y="64211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GB">
                <a:ln>
                  <a:solidFill>
                    <a:schemeClr val="bg2"/>
                  </a:solidFill>
                </a:ln>
                <a:sym typeface="+mn-ea"/>
              </a:rPr>
              <a:t>ARTIWHIZ 2026 Hackathon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9445752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D9D9D9"/>
                </a:solidFill>
                <a:latin typeface="Times New Roman"/>
              </a:rPr>
              <a:t>Urban Disaster Risk Prediction &amp; Dynamic Evacuation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9445752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EC306"/>
                </a:solidFill>
                <a:latin typeface="Times New Roman"/>
              </a:rPr>
              <a:t>Questions &amp; Discussion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flythrough dir="out" hasBounce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1225</Words>
  <Application>Microsoft Office PowerPoint</Application>
  <PresentationFormat>Widescreen</PresentationFormat>
  <Paragraphs>189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Be®</dc:creator>
  <cp:lastModifiedBy>raja sree</cp:lastModifiedBy>
  <cp:revision>555</cp:revision>
  <dcterms:created xsi:type="dcterms:W3CDTF">2014-09-06T13:04:00Z</dcterms:created>
  <dcterms:modified xsi:type="dcterms:W3CDTF">2026-10-09T15:47:56Z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2057-12.2.0.23206</vt:lpwstr>
  </property>
  <property fmtid="{D5CDD505-2E9C-101B-9397-08002B2CF9AE}" pid="3" name="ICV">
    <vt:lpwstr>AD9F87B0C8324611B86B364B84DEFB9C_13</vt:lpwstr>
  </property>
</Properties>
</file>